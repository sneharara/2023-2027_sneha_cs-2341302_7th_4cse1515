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07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86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3A3F5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FF6B35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0" cy="685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BA0B5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3A3F58"/>
          </a:solidFill>
          <a:ln/>
        </p:spPr>
      </p:sp>
      <p:pic>
        <p:nvPicPr>
          <p:cNvPr id="7" name="Image 0" descr="/home/claude/icons/fire_FF6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6824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651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Presentation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063240"/>
            <a:ext cx="9692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SMOKE AND FIRE HAZARD DETECTION SYSTEM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CONVOLUTIONAL NEURAL NETWORKS (CNN)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3A3F5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5166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DETAILS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54406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
</a:t>
            </a:r>
            <a:r>
              <a:rPr lang="en-US" sz="1150" b="1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/ Enrollment No.: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CS-2341302
</a:t>
            </a:r>
            <a:r>
              <a:rPr lang="en-US" sz="1150" b="1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Semester: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Btech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-CSE-IBM
</a:t>
            </a:r>
            <a:r>
              <a:rPr lang="en-US" sz="1150" b="1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2023-2027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309360" y="5166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&amp; SUPERVISION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09360" y="54406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Name: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BitePay
</a:t>
            </a:r>
            <a:r>
              <a:rPr lang="en-US" sz="1150" b="1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Supervisor: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Vishesh Gumber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2DD86E-6117-9607-8E13-09F258841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08" y="316790"/>
            <a:ext cx="2274398" cy="10228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BitePay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  <a:effectLst>
            <a:outerShdw blurRad="101600" dist="381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/home/claude/icons/build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0436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BitePay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22585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bitepay.in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BitePay is a registered Udyog Aadhar MSME (Micro, Small, and Medium Enterprises) organization.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delivering robust and innovative technological solutions.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dynamic environment for bridging the gap between theoretical AI models and real-world production.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440680" cy="4572000"/>
          </a:xfrm>
          <a:prstGeom prst="rect">
            <a:avLst/>
          </a:prstGeom>
          <a:solidFill>
            <a:srgbClr val="1B1F2A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92024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2" name="Image 1" descr="/home/claude/icons/targ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404" y="204368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Focus Area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Artificial Intelligence &amp; Computer Vision.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(FastAPI, JavaScript).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of deep learning models into client-server web applications.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BitePay Summer Internship  |  Smoke &amp; Fire Hazard Detection System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  <a:effectLst>
            <a:outerShdw blurRad="76200" dist="25400" dir="5400000" algn="bl" rotWithShape="0">
              <a:srgbClr val="1B1F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/home/claude/icons/c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21099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74650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Response Delay in Traditional Sensors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10312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sensors require smoke/heat to reach the device.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critical delays in high-ceiling or open outdoor environments.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136392"/>
            <a:ext cx="11109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  <a:effectLst>
            <a:outerShdw blurRad="76200" dist="25400" dir="5400000" algn="bl" rotWithShape="0">
              <a:srgbClr val="1B1F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502152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1" name="Image 1" descr="/home/claude/icons/bel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" y="3646170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28269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High False Alarm Rates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737360" y="363931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alarms triggered by non-hazardous activities like dust or cooking.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visual verification context.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672584"/>
            <a:ext cx="11109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  <a:effectLst>
            <a:outerShdw blurRad="76200" dist="25400" dir="5400000" algn="bl" rotWithShape="0">
              <a:srgbClr val="1B1F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5038344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6" name="Image 2" descr="/home/claude/icons/wifi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" y="5182362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81888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Absence of Remote &amp; Instant Monitoring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5175504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systems often lack instant remote alerting.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an automated mechanism to instantly notify remote administrators.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BitePay Summer Internship  |  Smoke &amp; Fire Hazard Detection System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 &amp; Technical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  <a:effectLst>
            <a:outerShdw blurRad="101600" dist="381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/home/claude/icons/bol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0436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Objectives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custom Convolutional Neural Network (CNN) to classify Fire, Smoke, and Neutral scenes.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web application to capture and analyze webcam feeds.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automated email notification system via Brevo SMTP.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440680" cy="4572000"/>
          </a:xfrm>
          <a:prstGeom prst="rect">
            <a:avLst/>
          </a:prstGeom>
          <a:solidFill>
            <a:srgbClr val="1B1F2A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2024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1" name="Image 1" descr="/home/claude/icons/ge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404" y="20436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202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Scope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7432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3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trained using Keras on Google Colab.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r>
              <a:rPr lang="en-US" sz="13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FastAPI Python server.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r>
              <a:rPr lang="en-US" sz="13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 UI accessing device cameras via WebRTC.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Communication: </a:t>
            </a:r>
            <a:r>
              <a:rPr lang="en-US" sz="13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WebSocket/REST APIs &amp; SMTP email broadcasting.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BitePay Summer Internship  |  Smoke &amp; Fire Hazard Detection System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 &amp; Pre-Processing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  <a:effectLst>
            <a:outerShdw blurRad="76200" dist="25400" dir="5400000" algn="bl" rotWithShape="0">
              <a:srgbClr val="1B1F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1B1F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1965960"/>
            <a:ext cx="548640" cy="548640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8" name="Image 0" descr="/home/claude/icons/database_FF6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284" y="208940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606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Curation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320040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image dataset containing labeled Fire, Smoke, and Neutral (safe) scenes.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resizing and normalization for CNN input consistency.</a:t>
            </a:r>
            <a:endParaRPr lang="en-US" sz="1150" dirty="0"/>
          </a:p>
        </p:txBody>
      </p:sp>
      <p:pic>
        <p:nvPicPr>
          <p:cNvPr id="11" name="Image 1" descr="/home/claude/icons/bolt_FF6B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228" y="3790188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297680" y="1691640"/>
            <a:ext cx="3611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  <a:effectLst>
            <a:outerShdw blurRad="76200" dist="25400" dir="5400000" algn="bl" rotWithShape="0">
              <a:srgbClr val="1B1F2A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0" y="1965960"/>
            <a:ext cx="457200" cy="457200"/>
          </a:xfrm>
          <a:prstGeom prst="ellipse">
            <a:avLst/>
          </a:prstGeom>
          <a:solidFill>
            <a:srgbClr val="1B1F2A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040880" y="1965960"/>
            <a:ext cx="548640" cy="548640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16" name="Image 2" descr="/home/claude/icons/layers_FF6B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4324" y="20894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0" y="2606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Augmentation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4572000" y="320040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rotations, flips, and zooming during training to prevent overfitting.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model robustness against varying camera angles.</a:t>
            </a:r>
            <a:endParaRPr lang="en-US" sz="1150" dirty="0"/>
          </a:p>
        </p:txBody>
      </p:sp>
      <p:pic>
        <p:nvPicPr>
          <p:cNvPr id="19" name="Image 3" descr="/home/claude/icons/bolt_FF6B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268" y="3790188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046720" y="1691640"/>
            <a:ext cx="3611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  <a:effectLst>
            <a:outerShdw blurRad="76200" dist="25400" dir="5400000" algn="bl" rotWithShape="0">
              <a:srgbClr val="1B1F2A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1B1F2A"/>
          </a:solidFill>
          <a:ln/>
        </p:spPr>
      </p:sp>
      <p:sp>
        <p:nvSpPr>
          <p:cNvPr id="22" name="Text 16"/>
          <p:cNvSpPr/>
          <p:nvPr/>
        </p:nvSpPr>
        <p:spPr>
          <a:xfrm>
            <a:off x="83210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10789920" y="1965960"/>
            <a:ext cx="548640" cy="548640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24" name="Image 4" descr="/home/claude/icons/camera_FF6B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3364" y="2089404"/>
            <a:ext cx="301752" cy="30175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321040" y="2606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Video Capture (Frontend)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8321040" y="320040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WebRTC API to access the client's webcam.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continuous image frames from the video stream.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frames for inference.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BitePay Summer Internship  |  Smoke &amp; Fire Hazard Detection System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1335024"/>
          </a:xfrm>
          <a:prstGeom prst="rect">
            <a:avLst/>
          </a:prstGeom>
          <a:solidFill>
            <a:srgbClr val="3A3F58">
              <a:alpha val="55000"/>
            </a:srgbClr>
          </a:solidFill>
          <a:ln w="12700">
            <a:solidFill>
              <a:srgbClr val="3A3F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603504" cy="603504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/home/claude/icons/bra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2193188"/>
            <a:ext cx="331927" cy="331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1051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AI Inference Engine (CNN)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14884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Convolutional Network extracting spatial hazard features.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 layer classifies frame into Fire/Smoke/Neutral.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72968"/>
            <a:ext cx="11109960" cy="1335024"/>
          </a:xfrm>
          <a:prstGeom prst="rect">
            <a:avLst/>
          </a:prstGeom>
          <a:solidFill>
            <a:srgbClr val="3A3F58">
              <a:alpha val="55000"/>
            </a:srgbClr>
          </a:solidFill>
          <a:ln w="12700">
            <a:solidFill>
              <a:srgbClr val="3A3F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538728"/>
            <a:ext cx="603504" cy="603504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1" name="Image 1" descr="/home/claude/icons/cod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748" y="3674516"/>
            <a:ext cx="331927" cy="331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2918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Client-Side Web Application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36301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webcam feed and handles local session management.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user dashboard to subscribe to email alerts.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654296"/>
            <a:ext cx="11109960" cy="1335024"/>
          </a:xfrm>
          <a:prstGeom prst="rect">
            <a:avLst/>
          </a:prstGeom>
          <a:solidFill>
            <a:srgbClr val="3A3F58">
              <a:alpha val="55000"/>
            </a:srgbClr>
          </a:solidFill>
          <a:ln w="12700">
            <a:solidFill>
              <a:srgbClr val="3A3F5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5020056"/>
            <a:ext cx="603504" cy="603504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6" name="Image 2" descr="/home/claude/icons/serv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748" y="5155844"/>
            <a:ext cx="331927" cy="331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77316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Alerting Backend (FastAPI)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5111496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 dynamic subscriber list (users_history.json).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hazard triggers from the frontend.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SMTP loop to securely dispatch alerts to all active users.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BitePay Summer Internship  |  Smoke &amp; Fire Hazard Detection System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Implementation &amp; Stack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&amp; FRAMEWORKS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675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67712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6654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2066544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 environment and AI training.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6675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35808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Keras / TensorFlow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83464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 for CNN training.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547872"/>
            <a:ext cx="6675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80390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60273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&amp; Uvicorn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602736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ASGI RESTful web framework.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315968"/>
            <a:ext cx="6675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57200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370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JS &amp; HTML5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437083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logic and WebRTC webcam integration.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48640" y="5084064"/>
            <a:ext cx="6675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340096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51389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Brevo SMTP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5138928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email routing API.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7498080" y="1600200"/>
            <a:ext cx="4160520" cy="4526280"/>
          </a:xfrm>
          <a:prstGeom prst="rect">
            <a:avLst/>
          </a:prstGeom>
          <a:solidFill>
            <a:srgbClr val="1B1F2A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18120" y="192024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7" name="Image 0" descr="/home/claude/icons/cha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564" y="2043684"/>
            <a:ext cx="301752" cy="30175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549640" y="19202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Optimization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Loss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7818120" y="27889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818120" y="30449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818120" y="3657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818120" y="39136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Crossentropy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818120" y="45262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ENVIRONMENT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818120" y="478231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with GPU acceleration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BitePay Summer Internship  |  Smoke &amp; Fire Hazard Detection System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Benchmark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Insights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  <a:effectLst>
            <a:outerShdw blurRad="76200" dist="25400" dir="5400000" algn="bl" rotWithShape="0">
              <a:srgbClr val="1B1F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/home/claude/icons/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223685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10312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Accuracy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83464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in distinguishing between Fire, Smoke, and Neutral.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82880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  <a:effectLst>
            <a:outerShdw blurRad="76200" dist="25400" dir="5400000" algn="bl" rotWithShape="0">
              <a:srgbClr val="1B1F2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10312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2" name="Image 1" descr="/home/claude/icons/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971" y="223685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10312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Positive Reduction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92240" y="283464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visual verification significantly reduces false alarms compared to traditional particle sensors.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  <a:effectLst>
            <a:outerShdw blurRad="76200" dist="25400" dir="5400000" algn="bl" rotWithShape="0">
              <a:srgbClr val="1B1F2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7" name="Image 2" descr="/home/claude/icons/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691" y="4385691"/>
            <a:ext cx="326898" cy="3268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25196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2960" y="49834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of detecting hazards in various lighting conditions and environments due to data augmentation.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397764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0"/>
            </a:solidFill>
            <a:prstDash val="solid"/>
          </a:ln>
          <a:effectLst>
            <a:outerShdw blurRad="76200" dist="25400" dir="5400000" algn="bl" rotWithShape="0">
              <a:srgbClr val="1B1F2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5196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2" name="Image 3" descr="/home/claude/icons/bo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971" y="4385691"/>
            <a:ext cx="326898" cy="32689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25196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Speed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92240" y="49834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model allows for near real-time frame evaluation without freezing the browser.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BitePay Summer Internship  |  Smoke &amp; Fire Hazard Detection System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Alert System &amp; Latency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EMAIL NOTIFICATION PIPELINE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" cy="548640"/>
          </a:xfrm>
          <a:prstGeom prst="ellipse">
            <a:avLst/>
          </a:prstGeom>
          <a:solidFill>
            <a:srgbClr val="1B1F2A"/>
          </a:solidFill>
          <a:ln/>
        </p:spPr>
      </p:sp>
      <p:pic>
        <p:nvPicPr>
          <p:cNvPr id="6" name="Image 0" descr="/home/claude/icons/fire_FF6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3852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 Trigger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80160" y="225856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immediately POSTs to backend upon Fire/Smoke detection.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2560320"/>
            <a:ext cx="0" cy="502920"/>
          </a:xfrm>
          <a:prstGeom prst="line">
            <a:avLst/>
          </a:prstGeom>
          <a:noFill/>
          <a:ln w="19050">
            <a:solidFill>
              <a:srgbClr val="D9D6CF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1B1F2A"/>
          </a:solidFill>
          <a:ln/>
        </p:spPr>
      </p:sp>
      <p:pic>
        <p:nvPicPr>
          <p:cNvPr id="11" name="Image 1" descr="/home/claude/icons/gear_FF6B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32324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08152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Looping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80160" y="340156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instantly iterates over all logged-in subscribers.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" y="3703320"/>
            <a:ext cx="0" cy="502920"/>
          </a:xfrm>
          <a:prstGeom prst="line">
            <a:avLst/>
          </a:prstGeom>
          <a:noFill/>
          <a:ln w="19050">
            <a:solidFill>
              <a:srgbClr val="D9D6CF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B1F2A"/>
          </a:solidFill>
          <a:ln/>
        </p:spPr>
      </p:sp>
      <p:pic>
        <p:nvPicPr>
          <p:cNvPr id="16" name="Image 2" descr="/home/claude/icons/mail_FF6B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43754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422452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Dispatch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80160" y="454456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Utilizes Brevo's SMTP server (Port 587 TLS) for secure and rapid delivery.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498080" y="1554480"/>
            <a:ext cx="4160520" cy="4572000"/>
          </a:xfrm>
          <a:prstGeom prst="rect">
            <a:avLst/>
          </a:prstGeom>
          <a:solidFill>
            <a:srgbClr val="1B1F2A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18120" y="187452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1" name="Image 3" descr="/home/claude/icons/clo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1564" y="19979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18120" y="2514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Speed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818120" y="30632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818120" y="331927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 are dispatched within seconds of a hazard appearing on camera.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818120" y="4206240"/>
            <a:ext cx="3566160" cy="0"/>
          </a:xfrm>
          <a:prstGeom prst="line">
            <a:avLst/>
          </a:prstGeom>
          <a:noFill/>
          <a:ln w="12700">
            <a:solidFill>
              <a:srgbClr val="3A3F5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818120" y="4389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COOLDOWN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818120" y="464515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cooldown logic prevents spamming the API.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BitePay Summer Internship  |  Smoke &amp; Fire Hazard Detection System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3A3F5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2011680"/>
            <a:ext cx="4572000" cy="457200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3A3F58"/>
          </a:solidFill>
          <a:ln/>
        </p:spPr>
      </p:sp>
      <p:pic>
        <p:nvPicPr>
          <p:cNvPr id="5" name="Image 0" descr="/home/claude/icons/check_FF6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8" y="64693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Acknowledgements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1109960" cy="1965960"/>
          </a:xfrm>
          <a:prstGeom prst="rect">
            <a:avLst/>
          </a:prstGeom>
          <a:solidFill>
            <a:srgbClr val="3A3F58">
              <a:alpha val="55000"/>
            </a:srgbClr>
          </a:solidFill>
          <a:ln w="12700">
            <a:solidFill>
              <a:srgbClr val="3A3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810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1488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 and deployed an end-to-end vision-based Fire and Smoke Detection system.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Bridged the gap between AI modeling and full-stack web alerting systems.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794760"/>
            <a:ext cx="11109960" cy="2331720"/>
          </a:xfrm>
          <a:prstGeom prst="rect">
            <a:avLst/>
          </a:prstGeom>
          <a:solidFill>
            <a:srgbClr val="3A3F58">
              <a:alpha val="55000"/>
            </a:srgbClr>
          </a:solidFill>
          <a:ln w="12700">
            <a:solidFill>
              <a:srgbClr val="3A3F5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0050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343400"/>
            <a:ext cx="10424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Sincere gratitude to BitePay and the industry supervisors for their invaluable guidance.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thanks to the Department of Computer Science &amp; Engineering at [Your University Name] for their academic support.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BA0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879</Words>
  <Application>Microsoft Office PowerPoint</Application>
  <PresentationFormat>Widescreen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Sneha Rara</cp:lastModifiedBy>
  <cp:revision>2</cp:revision>
  <dcterms:created xsi:type="dcterms:W3CDTF">2026-08-29T11:29:47Z</dcterms:created>
  <dcterms:modified xsi:type="dcterms:W3CDTF">2026-08-29T11:35:27Z</dcterms:modified>
</cp:coreProperties>
</file>